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6.png"/><Relationship Id="rId8" Type="http://schemas.openxmlformats.org/officeDocument/2006/relationships/image" Target="../media/image-6-6.png"/><Relationship Id="rId9" Type="http://schemas.openxmlformats.org/officeDocument/2006/relationships/image" Target="../media/image-6-6.png"/><Relationship Id="rId10" Type="http://schemas.openxmlformats.org/officeDocument/2006/relationships/image" Target="../media/image-6-6.png"/><Relationship Id="rId11" Type="http://schemas.openxmlformats.org/officeDocument/2006/relationships/image" Target="../media/image-6-11.png"/><Relationship Id="rId12" Type="http://schemas.openxmlformats.org/officeDocument/2006/relationships/image" Target="../media/image-6-1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5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5.png"/><Relationship Id="rId6" Type="http://schemas.openxmlformats.org/officeDocument/2006/relationships/image" Target="../media/image-15-5.png"/><Relationship Id="rId7" Type="http://schemas.openxmlformats.org/officeDocument/2006/relationships/image" Target="../media/image-15-5.png"/><Relationship Id="rId8" Type="http://schemas.openxmlformats.org/officeDocument/2006/relationships/image" Target="../media/image-15-5.png"/><Relationship Id="rId9" Type="http://schemas.openxmlformats.org/officeDocument/2006/relationships/image" Target="../media/image-15-5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0.png"/><Relationship Id="rId12" Type="http://schemas.openxmlformats.org/officeDocument/2006/relationships/image" Target="../media/image-15-10.png"/><Relationship Id="rId13" Type="http://schemas.openxmlformats.org/officeDocument/2006/relationships/image" Target="../media/image-15-10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212080"/>
            <a:ext cx="3108960" cy="3108960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-146304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 HR ESS Portal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Employee Experience Through Digital HR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4160520"/>
            <a:ext cx="1280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Prasanna Kumar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Business HR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vision, and the pillars driving this initiative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02343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Champ HR ESS Portal, a centralized Employee Self-Service platform that empowers employees to manage their HR services independently while enhancing operational efficiency.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3035808"/>
            <a:ext cx="4572000" cy="0"/>
          </a:xfrm>
          <a:prstGeom prst="line">
            <a:avLst/>
          </a:prstGeom>
          <a:noFill/>
          <a:ln w="12700">
            <a:solidFill>
              <a:srgbClr val="0C52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27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"One Portal. One Login. Complete Employee Experience."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96596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11" name="Image 0" descr="icons/sitemap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7910" y="206883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75120" y="19933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HR Transformation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35040" y="256032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14" name="Image 1" descr="icons/usercheck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910" y="266319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75120" y="258775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Self-Service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035040" y="315468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17" name="Image 2" descr="icons/filealt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910" y="325755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318211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HR Operations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035040" y="374904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20" name="Image 3" descr="icons/clock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910" y="38519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75120" y="377647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HR Processes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035040" y="434340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23" name="Image 4" descr="icons/handshake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910" y="444627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75120" y="43708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Employee Experience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548640" y="3794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822960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2468880" y="379476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Portal  •  One Login  •  Complete Employee Experience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HR Challenges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manual processes are costing time, accuracy, and employee trust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5166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6" name="Image 0" descr="icons/bell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102" y="19545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830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HR requests through email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25880" y="21122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response time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4406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36792" y="185166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11" name="Image 1" descr="icons/calendar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95453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7830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leave management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949440" y="21122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inefficiency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606040"/>
            <a:ext cx="54406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" y="276606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16" name="Image 2" descr="icons/moneybill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" y="286893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6974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Payroll-related employee queries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325880" y="30266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HR workload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2606040"/>
            <a:ext cx="54406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36792" y="276606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21" name="Image 3" descr="icons/filealt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662" y="286893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26974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stored across multiple systems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949440" y="30266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accessibility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3520440"/>
            <a:ext cx="54406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13232" y="368046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26" name="Image 4" descr="icons/clock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2" y="378333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36118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 needs manual follow-up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32588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productivity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72200" y="3520440"/>
            <a:ext cx="54406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36792" y="368046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31" name="Image 5" descr="icons/sitemap_02809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9662" y="378333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36118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employee dashboard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9494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employee experience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 — a centralized digital platform for every employee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53C40"/>
          </a:solidFill>
          <a:ln/>
        </p:spPr>
      </p:sp>
      <p:sp>
        <p:nvSpPr>
          <p:cNvPr id="5" name="Shape 3"/>
          <p:cNvSpPr/>
          <p:nvPr/>
        </p:nvSpPr>
        <p:spPr>
          <a:xfrm>
            <a:off x="1577340" y="1828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ons/users_0234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19522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Personal Profile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19272" y="16002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53C40"/>
          </a:solidFill>
          <a:ln/>
        </p:spPr>
      </p:sp>
      <p:sp>
        <p:nvSpPr>
          <p:cNvPr id="9" name="Shape 6"/>
          <p:cNvSpPr/>
          <p:nvPr/>
        </p:nvSpPr>
        <p:spPr>
          <a:xfrm>
            <a:off x="4347972" y="1828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icons/calendar_0234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195224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56432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Leave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089904" y="16002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53C40"/>
          </a:solidFill>
          <a:ln/>
        </p:spPr>
      </p:sp>
      <p:sp>
        <p:nvSpPr>
          <p:cNvPr id="13" name="Shape 9"/>
          <p:cNvSpPr/>
          <p:nvPr/>
        </p:nvSpPr>
        <p:spPr>
          <a:xfrm>
            <a:off x="7118604" y="1828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2" descr="icons/clock_02343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95224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27064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Attendance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860536" y="16002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53C40"/>
          </a:solidFill>
          <a:ln/>
        </p:spPr>
      </p:sp>
      <p:sp>
        <p:nvSpPr>
          <p:cNvPr id="17" name="Shape 12"/>
          <p:cNvSpPr/>
          <p:nvPr/>
        </p:nvSpPr>
        <p:spPr>
          <a:xfrm>
            <a:off x="9889236" y="1828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3" descr="icons/invoice_02343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195224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97696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Payslips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383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53C40"/>
          </a:solidFill>
          <a:ln/>
        </p:spPr>
      </p:sp>
      <p:sp>
        <p:nvSpPr>
          <p:cNvPr id="21" name="Shape 15"/>
          <p:cNvSpPr/>
          <p:nvPr/>
        </p:nvSpPr>
        <p:spPr>
          <a:xfrm>
            <a:off x="1577340" y="36118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4" descr="icons/exchange_02343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0784" y="3735324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" y="4297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Reimbursement Requests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3319272" y="3383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53C40"/>
          </a:solidFill>
          <a:ln/>
        </p:spPr>
      </p:sp>
      <p:sp>
        <p:nvSpPr>
          <p:cNvPr id="25" name="Shape 18"/>
          <p:cNvSpPr/>
          <p:nvPr/>
        </p:nvSpPr>
        <p:spPr>
          <a:xfrm>
            <a:off x="4347972" y="36118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5" descr="icons/gift_02343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3735324"/>
            <a:ext cx="301752" cy="30175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56432" y="4297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Employee Benefits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089904" y="3383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53C40"/>
          </a:solidFill>
          <a:ln/>
        </p:spPr>
      </p:sp>
      <p:sp>
        <p:nvSpPr>
          <p:cNvPr id="29" name="Shape 21"/>
          <p:cNvSpPr/>
          <p:nvPr/>
        </p:nvSpPr>
        <p:spPr>
          <a:xfrm>
            <a:off x="7118604" y="36118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0" name="Image 6" descr="icons/chartline_02343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48" y="3735324"/>
            <a:ext cx="301752" cy="30175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27064" y="4297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Performance Information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8860536" y="3383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53C40"/>
          </a:solidFill>
          <a:ln/>
        </p:spPr>
      </p:sp>
      <p:sp>
        <p:nvSpPr>
          <p:cNvPr id="33" name="Shape 24"/>
          <p:cNvSpPr/>
          <p:nvPr/>
        </p:nvSpPr>
        <p:spPr>
          <a:xfrm>
            <a:off x="9889236" y="36118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4" name="Image 7" descr="icons/bullhorn_02343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3735324"/>
            <a:ext cx="301752" cy="30175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997696" y="4297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Company Announcements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7" name="Text 27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Login  •  One Dashboard  •  One Employee Experience</a:t>
            </a:r>
            <a:endParaRPr lang="en-US" sz="1500" dirty="0"/>
          </a:p>
        </p:txBody>
      </p:sp>
      <p:sp>
        <p:nvSpPr>
          <p:cNvPr id="38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Philosophy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principles guiding every screen of the portal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1016" y="24688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chartpi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036" y="26289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33756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Intuitive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88620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layouts that need no training to navigate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34640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57016" y="24688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user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036" y="26289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333756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First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017520" y="388620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complete tasks without HR intervention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120640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43016" y="24688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s/userlo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036" y="26289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333756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Design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303520" y="388620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across devices, roles, and abilities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406640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129016" y="24688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sitema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036" y="26289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333756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Experience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589520" y="388620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visual language across every module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92640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415016" y="24688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icons/shield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5036" y="26289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29800" y="333756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Reliable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875520" y="388620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protection for employee data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single-glance view of everything that matters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309360" cy="4572000"/>
          </a:xfrm>
          <a:prstGeom prst="roundRect">
            <a:avLst>
              <a:gd name="adj" fmla="val 2000"/>
            </a:avLst>
          </a:prstGeom>
          <a:solidFill>
            <a:srgbClr val="02343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5852160" cy="502920"/>
          </a:xfrm>
          <a:prstGeom prst="roundRect">
            <a:avLst>
              <a:gd name="adj" fmla="val 10909"/>
            </a:avLst>
          </a:prstGeom>
          <a:solidFill>
            <a:srgbClr val="053C4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back, Aditi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94767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icons/bel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496" y="2029968"/>
            <a:ext cx="201168" cy="201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256032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053C40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2743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icons/calendar_0234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284607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7249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Balance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554480" y="3017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3840480" y="256032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053C40"/>
          </a:solidFill>
          <a:ln/>
        </p:spPr>
      </p:sp>
      <p:sp>
        <p:nvSpPr>
          <p:cNvPr id="15" name="Shape 11"/>
          <p:cNvSpPr/>
          <p:nvPr/>
        </p:nvSpPr>
        <p:spPr>
          <a:xfrm>
            <a:off x="4023360" y="2743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icons/clock_02343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230" y="284607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17720" y="27249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617720" y="3017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777240" y="393192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053C40"/>
          </a:solidFill>
          <a:ln/>
        </p:spPr>
      </p:sp>
      <p:sp>
        <p:nvSpPr>
          <p:cNvPr id="20" name="Shape 15"/>
          <p:cNvSpPr/>
          <p:nvPr/>
        </p:nvSpPr>
        <p:spPr>
          <a:xfrm>
            <a:off x="960120" y="4114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icons/invoice_02343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990" y="421767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0965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Payslip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55448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3840480" y="393192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053C40"/>
          </a:solidFill>
          <a:ln/>
        </p:spPr>
      </p:sp>
      <p:sp>
        <p:nvSpPr>
          <p:cNvPr id="25" name="Shape 19"/>
          <p:cNvSpPr/>
          <p:nvPr/>
        </p:nvSpPr>
        <p:spPr>
          <a:xfrm>
            <a:off x="4023360" y="4114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4" descr="icons/clipboard_02343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6230" y="421767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0965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Requests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61772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Open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7086600" y="1691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7086600" y="2011680"/>
            <a:ext cx="347472" cy="347472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31" name="Image 5" descr="icons/checkcircle_02809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4781" y="2089861"/>
            <a:ext cx="191110" cy="19111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89520" y="1993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Leave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7086600" y="2468880"/>
            <a:ext cx="347472" cy="347472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34" name="Image 6" descr="icons/checkcircle_02809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4781" y="2547061"/>
            <a:ext cx="191110" cy="19111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589520" y="24505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</a:t>
            </a:r>
            <a:endParaRPr 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7086600" y="2926080"/>
            <a:ext cx="347472" cy="347472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37" name="Image 7" descr="icons/checkcircle_02809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4781" y="3004261"/>
            <a:ext cx="191110" cy="19111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589520" y="29077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Payslip</a:t>
            </a:r>
            <a:endParaRPr lang="en-US" sz="1250" dirty="0"/>
          </a:p>
        </p:txBody>
      </p:sp>
      <p:sp>
        <p:nvSpPr>
          <p:cNvPr id="39" name="Shape 29"/>
          <p:cNvSpPr/>
          <p:nvPr/>
        </p:nvSpPr>
        <p:spPr>
          <a:xfrm>
            <a:off x="7086600" y="3383280"/>
            <a:ext cx="347472" cy="347472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40" name="Image 8" descr="icons/checkcircle_02809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4781" y="3461461"/>
            <a:ext cx="191110" cy="19111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589520" y="3364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Reimbursement</a:t>
            </a:r>
            <a:endParaRPr lang="en-US" sz="1250" dirty="0"/>
          </a:p>
        </p:txBody>
      </p:sp>
      <p:sp>
        <p:nvSpPr>
          <p:cNvPr id="42" name="Shape 31"/>
          <p:cNvSpPr/>
          <p:nvPr/>
        </p:nvSpPr>
        <p:spPr>
          <a:xfrm>
            <a:off x="7086600" y="3840480"/>
            <a:ext cx="347472" cy="347472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43" name="Image 9" descr="icons/checkcircle_02809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4781" y="3918661"/>
            <a:ext cx="191110" cy="19111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7589520" y="3822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</a:t>
            </a:r>
            <a:endParaRPr lang="en-US" sz="1250" dirty="0"/>
          </a:p>
        </p:txBody>
      </p:sp>
      <p:sp>
        <p:nvSpPr>
          <p:cNvPr id="45" name="Text 33"/>
          <p:cNvSpPr/>
          <p:nvPr/>
        </p:nvSpPr>
        <p:spPr>
          <a:xfrm>
            <a:off x="7086600" y="4434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VISIBLE</a:t>
            </a:r>
            <a:endParaRPr lang="en-US" sz="1100" dirty="0"/>
          </a:p>
        </p:txBody>
      </p:sp>
      <p:sp>
        <p:nvSpPr>
          <p:cNvPr id="46" name="Shape 34"/>
          <p:cNvSpPr/>
          <p:nvPr/>
        </p:nvSpPr>
        <p:spPr>
          <a:xfrm>
            <a:off x="7086600" y="4754880"/>
            <a:ext cx="347472" cy="347472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47" name="Image 10" descr="icons/bullhorn_02809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4781" y="4833061"/>
            <a:ext cx="191110" cy="19111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7589520" y="47365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Announcements</a:t>
            </a:r>
            <a:endParaRPr lang="en-US" sz="1250" dirty="0"/>
          </a:p>
        </p:txBody>
      </p:sp>
      <p:sp>
        <p:nvSpPr>
          <p:cNvPr id="49" name="Shape 36"/>
          <p:cNvSpPr/>
          <p:nvPr/>
        </p:nvSpPr>
        <p:spPr>
          <a:xfrm>
            <a:off x="7086600" y="5212080"/>
            <a:ext cx="347472" cy="347472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50" name="Image 11" descr="icons/bullhorn_02809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4781" y="5290261"/>
            <a:ext cx="191110" cy="191110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7589520" y="51937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Notifications</a:t>
            </a:r>
            <a:endParaRPr lang="en-US" sz="1250" dirty="0"/>
          </a:p>
        </p:txBody>
      </p:sp>
      <p:sp>
        <p:nvSpPr>
          <p:cNvPr id="52" name="Text 3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</a:t>
            </a:r>
            <a:endParaRPr lang="en-US" sz="900" dirty="0"/>
          </a:p>
        </p:txBody>
      </p:sp>
      <p:sp>
        <p:nvSpPr>
          <p:cNvPr id="53" name="Text 3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Navigation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employee needs is one click away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4572000"/>
          </a:xfrm>
          <a:prstGeom prst="roundRect">
            <a:avLst>
              <a:gd name="adj" fmla="val 2778"/>
            </a:avLst>
          </a:prstGeom>
          <a:solidFill>
            <a:srgbClr val="02343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2926080" cy="438912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4480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4983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Reimbursements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5486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6052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NAVIGATION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6052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core HR function lives in one persistent left-hand menu, so employees never hunt across systems or emails to find what they need.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6052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LINKS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0520" y="3337560"/>
            <a:ext cx="7452360" cy="914400"/>
          </a:xfrm>
          <a:prstGeom prst="roundRect">
            <a:avLst>
              <a:gd name="adj" fmla="val 8000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3566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0" descr="icons/filealt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1990" y="3669030"/>
            <a:ext cx="251460" cy="2514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029200" y="34747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Policies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029200" y="37947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access to every HR policy document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60520" y="4434840"/>
            <a:ext cx="7452360" cy="914400"/>
          </a:xfrm>
          <a:prstGeom prst="roundRect">
            <a:avLst>
              <a:gd name="adj" fmla="val 8000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89120" y="46634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1" descr="icons/commentdots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4766310"/>
            <a:ext cx="251460" cy="2514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029200" y="45720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Contacts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5029200" y="48920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line to the right HR representative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Profile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Profile" — a single source of truth for personal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802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users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1831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916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Information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19272" y="1691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02152" y="20802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icons/idbadge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022" y="21831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96512" y="16916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Information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089904" y="1691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72784" y="20802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icons/university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654" y="218313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67144" y="16916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Details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860536" y="1691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043416" y="20802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icons/filealt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6286" y="218313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37776" y="16916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090672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31520" y="34792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icons/handshake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0" y="3582162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3090672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3319272" y="3090672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502152" y="34792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icons/commentdots_02809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5022" y="3582162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096512" y="3090672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Contacts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089904" y="3090672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272784" y="34792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6" descr="icons/gift_02809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5654" y="3582162"/>
            <a:ext cx="251460" cy="2514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867144" y="3090672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23436"/>
          </a:solidFill>
          <a:ln/>
        </p:spPr>
      </p:sp>
      <p:sp>
        <p:nvSpPr>
          <p:cNvPr id="33" name="Shape 24"/>
          <p:cNvSpPr/>
          <p:nvPr/>
        </p:nvSpPr>
        <p:spPr>
          <a:xfrm>
            <a:off x="822960" y="519379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4" name="Image 7" descr="icons/checkcircle_02343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5330952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508760" y="51937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profile updates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4480560" y="519379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7" name="Image 8" descr="icons/clock_02343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7720" y="5330952"/>
            <a:ext cx="274320" cy="27432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166360" y="51937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HR dependency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8138160" y="519379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0" name="Image 9" descr="icons/chartbar_023436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5320" y="5330952"/>
            <a:ext cx="274320" cy="27432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8823960" y="51937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employee records</a:t>
            </a:r>
            <a:endParaRPr lang="en-US" sz="1300" dirty="0"/>
          </a:p>
        </p:txBody>
      </p:sp>
      <p:sp>
        <p:nvSpPr>
          <p:cNvPr id="4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Management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request to approval — fully digital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420624" cy="420624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6" name="Image 0" descr="icons/calendar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280" y="2152040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075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Leave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420624" cy="420624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9" name="Image 1" descr="icons/chartbar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" y="2718968"/>
            <a:ext cx="231343" cy="231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6426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Balance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191256"/>
            <a:ext cx="420624" cy="420624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12" name="Image 2" descr="icons/users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80" y="3285896"/>
            <a:ext cx="231343" cy="231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2095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Leave Calendar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3758184"/>
            <a:ext cx="420624" cy="420624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15" name="Image 3" descr="icons/moneybill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" y="3852824"/>
            <a:ext cx="231343" cy="23134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3776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Encashment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548640" y="4325112"/>
            <a:ext cx="420624" cy="420624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18" name="Image 4" descr="icons/filealt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80" y="4419752"/>
            <a:ext cx="231343" cy="23134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300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History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548640" y="4892040"/>
            <a:ext cx="420624" cy="420624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21" name="Image 5" descr="icons/checkcircle_02809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" y="4986680"/>
            <a:ext cx="231343" cy="23134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43000" y="4910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 Status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640080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6400800" y="214884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6629400" y="2148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6" name="Text 18"/>
          <p:cNvSpPr/>
          <p:nvPr/>
        </p:nvSpPr>
        <p:spPr>
          <a:xfrm>
            <a:off x="7178040" y="2148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Request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 rot="10800000">
            <a:off x="8732520" y="2907792"/>
            <a:ext cx="201168" cy="146304"/>
          </a:xfrm>
          <a:prstGeom prst="triangle">
            <a:avLst/>
          </a:prstGeom>
          <a:solidFill>
            <a:srgbClr val="5B7876"/>
          </a:solidFill>
          <a:ln/>
        </p:spPr>
      </p:sp>
      <p:sp>
        <p:nvSpPr>
          <p:cNvPr id="28" name="Shape 20"/>
          <p:cNvSpPr/>
          <p:nvPr/>
        </p:nvSpPr>
        <p:spPr>
          <a:xfrm>
            <a:off x="6400800" y="3054096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629400" y="3054096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30" name="Text 22"/>
          <p:cNvSpPr/>
          <p:nvPr/>
        </p:nvSpPr>
        <p:spPr>
          <a:xfrm>
            <a:off x="7178040" y="3054096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 rot="10800000">
            <a:off x="8732520" y="3813048"/>
            <a:ext cx="201168" cy="146304"/>
          </a:xfrm>
          <a:prstGeom prst="triangle">
            <a:avLst/>
          </a:prstGeom>
          <a:solidFill>
            <a:srgbClr val="5B7876"/>
          </a:solidFill>
          <a:ln/>
        </p:spPr>
      </p:sp>
      <p:sp>
        <p:nvSpPr>
          <p:cNvPr id="32" name="Shape 24"/>
          <p:cNvSpPr/>
          <p:nvPr/>
        </p:nvSpPr>
        <p:spPr>
          <a:xfrm>
            <a:off x="6400800" y="3959352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629400" y="3959352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26"/>
          <p:cNvSpPr/>
          <p:nvPr/>
        </p:nvSpPr>
        <p:spPr>
          <a:xfrm>
            <a:off x="7178040" y="395935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Verification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 rot="10800000">
            <a:off x="8732520" y="4718304"/>
            <a:ext cx="201168" cy="146304"/>
          </a:xfrm>
          <a:prstGeom prst="triangle">
            <a:avLst/>
          </a:prstGeom>
          <a:solidFill>
            <a:srgbClr val="5B7876"/>
          </a:solidFill>
          <a:ln/>
        </p:spPr>
      </p:sp>
      <p:sp>
        <p:nvSpPr>
          <p:cNvPr id="36" name="Shape 28"/>
          <p:cNvSpPr/>
          <p:nvPr/>
        </p:nvSpPr>
        <p:spPr>
          <a:xfrm>
            <a:off x="6400800" y="4864608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6629400" y="4864608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8" name="Text 30"/>
          <p:cNvSpPr/>
          <p:nvPr/>
        </p:nvSpPr>
        <p:spPr>
          <a:xfrm>
            <a:off x="7178040" y="486460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Updated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Management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real-time attendance without manual chasing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clock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517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297680" y="18288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2103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icons/filealt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90" y="225171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Attendance Records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8046720" y="18288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21040" y="2103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icons/exchange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630" y="2251710"/>
            <a:ext cx="297180" cy="2971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75320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Regularization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48640" y="39776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icons/laptophouse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400550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5029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Home Requests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4297680" y="39776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72000" y="42519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icons/mapmarked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590" y="4400550"/>
            <a:ext cx="297180" cy="2971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26280" y="5029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Duty Requests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8046720" y="39776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321040" y="42519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icons/chartbar_02809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630" y="4400550"/>
            <a:ext cx="297180" cy="2971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75320" y="5029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Attendance Summary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 Management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pay transparency, available on demand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193852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invoice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3357" y="2051685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56032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Payslips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19272" y="17373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70832" y="193852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icons/sitemap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989" y="2051685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256032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Structure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89904" y="17373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41464" y="193852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icons/chartline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621" y="2051685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99632" y="256032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Declaration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860536" y="17373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912096" y="193852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icons/filealt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5253" y="2051685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70264" y="256032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16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3375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600200" y="353872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icons/clock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3357" y="3651885"/>
            <a:ext cx="276606" cy="27660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8368" y="416052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History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319272" y="33375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370832" y="353872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icons/university_02809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3989" y="3651885"/>
            <a:ext cx="276606" cy="27660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29000" y="416052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Details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089904" y="33375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141464" y="353872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6" descr="icons/moneybill_02809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4621" y="3651885"/>
            <a:ext cx="276606" cy="27660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199632" y="4160520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Salary Summary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Reimbursements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wellbeing, backed by a transparent claims process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02343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BENEFITS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402336" cy="402336"/>
          </a:xfrm>
          <a:prstGeom prst="ellipse">
            <a:avLst/>
          </a:prstGeom>
          <a:solidFill>
            <a:srgbClr val="053C40"/>
          </a:solidFill>
          <a:ln/>
        </p:spPr>
      </p:sp>
      <p:pic>
        <p:nvPicPr>
          <p:cNvPr id="7" name="Image 0" descr="icons/shield_02C3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206" y="2376526"/>
            <a:ext cx="221285" cy="2212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042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68680" y="2852928"/>
            <a:ext cx="402336" cy="402336"/>
          </a:xfrm>
          <a:prstGeom prst="ellipse">
            <a:avLst/>
          </a:prstGeom>
          <a:solidFill>
            <a:srgbClr val="053C40"/>
          </a:solidFill>
          <a:ln/>
        </p:spPr>
      </p:sp>
      <p:pic>
        <p:nvPicPr>
          <p:cNvPr id="10" name="Image 1" descr="icons/university_02C39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6" y="2943454"/>
            <a:ext cx="221285" cy="2212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8712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Provident Fund (PF)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68680" y="3419856"/>
            <a:ext cx="402336" cy="402336"/>
          </a:xfrm>
          <a:prstGeom prst="ellipse">
            <a:avLst/>
          </a:prstGeom>
          <a:solidFill>
            <a:srgbClr val="053C40"/>
          </a:solidFill>
          <a:ln/>
        </p:spPr>
      </p:sp>
      <p:pic>
        <p:nvPicPr>
          <p:cNvPr id="13" name="Image 2" descr="icons/heartbeat_02C39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06" y="3510382"/>
            <a:ext cx="221285" cy="22128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4381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868680" y="3986784"/>
            <a:ext cx="402336" cy="402336"/>
          </a:xfrm>
          <a:prstGeom prst="ellipse">
            <a:avLst/>
          </a:prstGeom>
          <a:solidFill>
            <a:srgbClr val="053C40"/>
          </a:solidFill>
          <a:ln/>
        </p:spPr>
      </p:sp>
      <p:pic>
        <p:nvPicPr>
          <p:cNvPr id="16" name="Image 3" descr="icons/gift_02C39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6" y="4077310"/>
            <a:ext cx="221285" cy="22128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005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Gratuity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080760" y="1691640"/>
            <a:ext cx="5532120" cy="3246120"/>
          </a:xfrm>
          <a:prstGeom prst="roundRect">
            <a:avLst>
              <a:gd name="adj" fmla="val 2817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4008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REIMBURSEMENTS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0" y="233172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icons/car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1326" y="2422246"/>
            <a:ext cx="221285" cy="22128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4944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9144000" y="233172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5" descr="icons/utensils_02809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4526" y="2422246"/>
            <a:ext cx="221285" cy="22128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69264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400800" y="318211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6" descr="icons/mobilealt_02809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1326" y="3272638"/>
            <a:ext cx="221285" cy="22128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49440" y="3136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9144000" y="318211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7" descr="icons/wifi_02809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4526" y="3272638"/>
            <a:ext cx="221285" cy="22128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9692640" y="3136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6400800" y="403250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8" descr="icons/car_02809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1326" y="4123030"/>
            <a:ext cx="221285" cy="221285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949440" y="39867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300" dirty="0"/>
          </a:p>
        </p:txBody>
      </p:sp>
      <p:sp>
        <p:nvSpPr>
          <p:cNvPr id="35" name="Shape 24"/>
          <p:cNvSpPr/>
          <p:nvPr/>
        </p:nvSpPr>
        <p:spPr>
          <a:xfrm>
            <a:off x="9144000" y="403250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9" descr="icons/heartbeat_02809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4526" y="4123030"/>
            <a:ext cx="221285" cy="221285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9692640" y="39867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300" dirty="0"/>
          </a:p>
        </p:txBody>
      </p:sp>
      <p:sp>
        <p:nvSpPr>
          <p:cNvPr id="38" name="Text 26"/>
          <p:cNvSpPr/>
          <p:nvPr/>
        </p:nvSpPr>
        <p:spPr>
          <a:xfrm>
            <a:off x="54864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FEATURES</a:t>
            </a:r>
            <a:endParaRPr lang="en-US" sz="1100" dirty="0"/>
          </a:p>
        </p:txBody>
      </p:sp>
      <p:sp>
        <p:nvSpPr>
          <p:cNvPr id="39" name="Shape 27"/>
          <p:cNvSpPr/>
          <p:nvPr/>
        </p:nvSpPr>
        <p:spPr>
          <a:xfrm>
            <a:off x="548640" y="548640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40" name="Image 10" descr="icons/login_02809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" y="5589270"/>
            <a:ext cx="251460" cy="25146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1143000" y="5486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Submission</a:t>
            </a:r>
            <a:endParaRPr lang="en-US" sz="1300" dirty="0"/>
          </a:p>
        </p:txBody>
      </p:sp>
      <p:sp>
        <p:nvSpPr>
          <p:cNvPr id="42" name="Shape 29"/>
          <p:cNvSpPr/>
          <p:nvPr/>
        </p:nvSpPr>
        <p:spPr>
          <a:xfrm>
            <a:off x="4297680" y="548640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43" name="Image 11" descr="icons/checkcircle_02809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00550" y="5589270"/>
            <a:ext cx="251460" cy="251460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4892040" y="5486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300" dirty="0"/>
          </a:p>
        </p:txBody>
      </p:sp>
      <p:sp>
        <p:nvSpPr>
          <p:cNvPr id="45" name="Shape 31"/>
          <p:cNvSpPr/>
          <p:nvPr/>
        </p:nvSpPr>
        <p:spPr>
          <a:xfrm>
            <a:off x="8046720" y="548640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46" name="Image 12" descr="icons/search_028090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49590" y="5589270"/>
            <a:ext cx="251460" cy="251460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8641080" y="5486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</a:t>
            </a:r>
            <a:endParaRPr lang="en-US" sz="1300" dirty="0"/>
          </a:p>
        </p:txBody>
      </p:sp>
      <p:sp>
        <p:nvSpPr>
          <p:cNvPr id="48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</a:t>
            </a:r>
            <a:endParaRPr lang="en-US" sz="900" dirty="0"/>
          </a:p>
        </p:txBody>
      </p:sp>
      <p:sp>
        <p:nvSpPr>
          <p:cNvPr id="49" name="Text 3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Management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growth, feedback, and recognition in one place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tasks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148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KRAs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19272" y="173736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47972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icons/chartbar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2148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56432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089904" y="173736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18604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icons/clipboard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764" y="21488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27064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860536" y="173736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889236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icons/commentdots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6396" y="21488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97696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Feedback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7490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577340" y="4023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icons/chartline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41605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" y="4754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History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3319272" y="37490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347972" y="4023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icons/invoice_02809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5132" y="416052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56432" y="4754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Letters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089904" y="37490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118604" y="4023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6" descr="icons/trophy_02809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5764" y="4160520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27064" y="4754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&amp; Awards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&amp; beyond — where the portal goes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53C40"/>
          </a:solidFill>
          <a:ln/>
        </p:spPr>
      </p:sp>
      <p:sp>
        <p:nvSpPr>
          <p:cNvPr id="5" name="Shape 3"/>
          <p:cNvSpPr/>
          <p:nvPr/>
        </p:nvSpPr>
        <p:spPr>
          <a:xfrm>
            <a:off x="1577340" y="1828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ons/idbadge_0234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19522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Employee ID Card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19272" y="16002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53C40"/>
          </a:solidFill>
          <a:ln/>
        </p:spPr>
      </p:sp>
      <p:sp>
        <p:nvSpPr>
          <p:cNvPr id="9" name="Shape 6"/>
          <p:cNvSpPr/>
          <p:nvPr/>
        </p:nvSpPr>
        <p:spPr>
          <a:xfrm>
            <a:off x="4347972" y="1828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icons/camera_0234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195224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56432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Attendance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89904" y="16002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53C40"/>
          </a:solidFill>
          <a:ln/>
        </p:spPr>
      </p:sp>
      <p:sp>
        <p:nvSpPr>
          <p:cNvPr id="13" name="Shape 9"/>
          <p:cNvSpPr/>
          <p:nvPr/>
        </p:nvSpPr>
        <p:spPr>
          <a:xfrm>
            <a:off x="7118604" y="1828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2" descr="icons/handshake_02343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95224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27064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Referral Portal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860536" y="16002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53C40"/>
          </a:solidFill>
          <a:ln/>
        </p:spPr>
      </p:sp>
      <p:sp>
        <p:nvSpPr>
          <p:cNvPr id="17" name="Shape 12"/>
          <p:cNvSpPr/>
          <p:nvPr/>
        </p:nvSpPr>
        <p:spPr>
          <a:xfrm>
            <a:off x="9889236" y="1828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3" descr="icons/search_02343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195224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97696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Job Posting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383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53C40"/>
          </a:solidFill>
          <a:ln/>
        </p:spPr>
      </p:sp>
      <p:sp>
        <p:nvSpPr>
          <p:cNvPr id="21" name="Shape 15"/>
          <p:cNvSpPr/>
          <p:nvPr/>
        </p:nvSpPr>
        <p:spPr>
          <a:xfrm>
            <a:off x="1577340" y="36118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4" descr="icons/exchange_02343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0784" y="3735324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" y="4297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Automation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319272" y="3383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53C40"/>
          </a:solidFill>
          <a:ln/>
        </p:spPr>
      </p:sp>
      <p:sp>
        <p:nvSpPr>
          <p:cNvPr id="25" name="Shape 18"/>
          <p:cNvSpPr/>
          <p:nvPr/>
        </p:nvSpPr>
        <p:spPr>
          <a:xfrm>
            <a:off x="4347972" y="36118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5" descr="icons/commentdots_02343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3735324"/>
            <a:ext cx="301752" cy="30175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56432" y="4297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Engagement Surveys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089904" y="3383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53C40"/>
          </a:solidFill>
          <a:ln/>
        </p:spPr>
      </p:sp>
      <p:sp>
        <p:nvSpPr>
          <p:cNvPr id="29" name="Shape 21"/>
          <p:cNvSpPr/>
          <p:nvPr/>
        </p:nvSpPr>
        <p:spPr>
          <a:xfrm>
            <a:off x="7118604" y="36118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0" name="Image 6" descr="icons/trophy_02343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48" y="3735324"/>
            <a:ext cx="301752" cy="30175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27064" y="4297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Wall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8860536" y="3383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53C40"/>
          </a:solidFill>
          <a:ln/>
        </p:spPr>
      </p:sp>
      <p:sp>
        <p:nvSpPr>
          <p:cNvPr id="33" name="Shape 24"/>
          <p:cNvSpPr/>
          <p:nvPr/>
        </p:nvSpPr>
        <p:spPr>
          <a:xfrm>
            <a:off x="9889236" y="36118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4" name="Image 7" descr="icons/chartpie_02343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3735324"/>
            <a:ext cx="301752" cy="30175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997696" y="4297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HR Analytics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Benefits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 across every level of the organization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61188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47672"/>
            <a:ext cx="3611880" cy="2468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BENEFITS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icons/checkcircle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72" y="2493112"/>
            <a:ext cx="170993" cy="1709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23682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HR Services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306324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checkcircle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72" y="3133192"/>
            <a:ext cx="170993" cy="1709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30083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Self-Service Access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70332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icons/checkcircle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72" y="3773272"/>
            <a:ext cx="170993" cy="1709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Processes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31520" y="434340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icons/checkcircle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72" y="4413352"/>
            <a:ext cx="170993" cy="1709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42885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Dependency on HR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297680" y="169164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297680" y="1691640"/>
            <a:ext cx="3611880" cy="50292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22" name="Shape 16"/>
          <p:cNvSpPr/>
          <p:nvPr/>
        </p:nvSpPr>
        <p:spPr>
          <a:xfrm>
            <a:off x="4297680" y="1947672"/>
            <a:ext cx="3611880" cy="2468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17"/>
          <p:cNvSpPr/>
          <p:nvPr/>
        </p:nvSpPr>
        <p:spPr>
          <a:xfrm>
            <a:off x="4480560" y="1691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BENEFITS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480560" y="242316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icons/checkcircle_00A89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0512" y="2493112"/>
            <a:ext cx="170993" cy="1709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92040" y="23682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Work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480560" y="306324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icons/checkcircle_00A89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0512" y="3133192"/>
            <a:ext cx="170993" cy="17099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892040" y="30083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Approvals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4480560" y="370332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6" descr="icons/checkcircle_00A89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0512" y="3773272"/>
            <a:ext cx="170993" cy="170993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89204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Operations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4480560" y="434340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7" descr="icons/checkcircle_00A89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0512" y="4413352"/>
            <a:ext cx="170993" cy="17099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892040" y="42885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Compliance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4480560" y="498348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8" descr="icons/checkcircle_00A89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0512" y="5053432"/>
            <a:ext cx="170993" cy="170993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892040" y="49286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Employee Data</a:t>
            </a:r>
            <a:endParaRPr lang="en-US" sz="1200" dirty="0"/>
          </a:p>
        </p:txBody>
      </p:sp>
      <p:sp>
        <p:nvSpPr>
          <p:cNvPr id="39" name="Shape 28"/>
          <p:cNvSpPr/>
          <p:nvPr/>
        </p:nvSpPr>
        <p:spPr>
          <a:xfrm>
            <a:off x="8046720" y="169164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023436"/>
          </a:solidFill>
          <a:ln w="12700">
            <a:solidFill>
              <a:srgbClr val="023436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8046720" y="1691640"/>
            <a:ext cx="3611880" cy="502920"/>
          </a:xfrm>
          <a:prstGeom prst="roundRect">
            <a:avLst>
              <a:gd name="adj" fmla="val 18182"/>
            </a:avLst>
          </a:prstGeom>
          <a:solidFill>
            <a:srgbClr val="023436"/>
          </a:solidFill>
          <a:ln/>
        </p:spPr>
      </p:sp>
      <p:sp>
        <p:nvSpPr>
          <p:cNvPr id="41" name="Shape 30"/>
          <p:cNvSpPr/>
          <p:nvPr/>
        </p:nvSpPr>
        <p:spPr>
          <a:xfrm>
            <a:off x="8046720" y="1947672"/>
            <a:ext cx="3611880" cy="246888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42" name="Text 31"/>
          <p:cNvSpPr/>
          <p:nvPr/>
        </p:nvSpPr>
        <p:spPr>
          <a:xfrm>
            <a:off x="8229600" y="1691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BENEFITS</a:t>
            </a:r>
            <a:endParaRPr lang="en-US" sz="1300" dirty="0"/>
          </a:p>
        </p:txBody>
      </p:sp>
      <p:sp>
        <p:nvSpPr>
          <p:cNvPr id="43" name="Shape 32"/>
          <p:cNvSpPr/>
          <p:nvPr/>
        </p:nvSpPr>
        <p:spPr>
          <a:xfrm>
            <a:off x="8229600" y="2423160"/>
            <a:ext cx="310896" cy="310896"/>
          </a:xfrm>
          <a:prstGeom prst="ellipse">
            <a:avLst/>
          </a:prstGeom>
          <a:solidFill>
            <a:srgbClr val="053C40"/>
          </a:solidFill>
          <a:ln/>
        </p:spPr>
      </p:sp>
      <p:pic>
        <p:nvPicPr>
          <p:cNvPr id="44" name="Image 9" descr="icons/checkcircle_023436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9552" y="2493112"/>
            <a:ext cx="170993" cy="170993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8641080" y="23682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Analytics</a:t>
            </a:r>
            <a:endParaRPr lang="en-US" sz="1200" dirty="0"/>
          </a:p>
        </p:txBody>
      </p:sp>
      <p:sp>
        <p:nvSpPr>
          <p:cNvPr id="46" name="Shape 34"/>
          <p:cNvSpPr/>
          <p:nvPr/>
        </p:nvSpPr>
        <p:spPr>
          <a:xfrm>
            <a:off x="8229600" y="3063240"/>
            <a:ext cx="310896" cy="310896"/>
          </a:xfrm>
          <a:prstGeom prst="ellipse">
            <a:avLst/>
          </a:prstGeom>
          <a:solidFill>
            <a:srgbClr val="053C40"/>
          </a:solidFill>
          <a:ln/>
        </p:spPr>
      </p:sp>
      <p:pic>
        <p:nvPicPr>
          <p:cNvPr id="47" name="Image 10" descr="icons/checkcircle_02343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9552" y="3133192"/>
            <a:ext cx="170993" cy="170993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8641080" y="30083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Reports &amp; Dashboards</a:t>
            </a:r>
            <a:endParaRPr lang="en-US" sz="1200" dirty="0"/>
          </a:p>
        </p:txBody>
      </p:sp>
      <p:sp>
        <p:nvSpPr>
          <p:cNvPr id="49" name="Shape 36"/>
          <p:cNvSpPr/>
          <p:nvPr/>
        </p:nvSpPr>
        <p:spPr>
          <a:xfrm>
            <a:off x="8229600" y="3703320"/>
            <a:ext cx="310896" cy="310896"/>
          </a:xfrm>
          <a:prstGeom prst="ellipse">
            <a:avLst/>
          </a:prstGeom>
          <a:solidFill>
            <a:srgbClr val="053C40"/>
          </a:solidFill>
          <a:ln/>
        </p:spPr>
      </p:sp>
      <p:pic>
        <p:nvPicPr>
          <p:cNvPr id="50" name="Image 11" descr="icons/checkcircle_023436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9552" y="3773272"/>
            <a:ext cx="170993" cy="170993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864108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Decision Making</a:t>
            </a:r>
            <a:endParaRPr lang="en-US" sz="1200" dirty="0"/>
          </a:p>
        </p:txBody>
      </p:sp>
      <p:sp>
        <p:nvSpPr>
          <p:cNvPr id="52" name="Shape 38"/>
          <p:cNvSpPr/>
          <p:nvPr/>
        </p:nvSpPr>
        <p:spPr>
          <a:xfrm>
            <a:off x="8229600" y="4343400"/>
            <a:ext cx="310896" cy="310896"/>
          </a:xfrm>
          <a:prstGeom prst="ellipse">
            <a:avLst/>
          </a:prstGeom>
          <a:solidFill>
            <a:srgbClr val="053C40"/>
          </a:solidFill>
          <a:ln/>
        </p:spPr>
      </p:sp>
      <p:pic>
        <p:nvPicPr>
          <p:cNvPr id="53" name="Image 12" descr="icons/checkcircle_023436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9552" y="4413352"/>
            <a:ext cx="170993" cy="170993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8641080" y="42885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Operational Efficiency</a:t>
            </a:r>
            <a:endParaRPr lang="en-US" sz="1200" dirty="0"/>
          </a:p>
        </p:txBody>
      </p:sp>
      <p:sp>
        <p:nvSpPr>
          <p:cNvPr id="55" name="Text 4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</a:t>
            </a:r>
            <a:endParaRPr lang="en-US" sz="900" dirty="0"/>
          </a:p>
        </p:txBody>
      </p:sp>
      <p:sp>
        <p:nvSpPr>
          <p:cNvPr id="56" name="Text 4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rollout, from planning to go-live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245059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377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Dashboard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9808" y="276148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68833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Profile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9808" y="3072384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9992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" y="3383280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3101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9808" y="3694176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6210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023360" y="169164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18745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24528" y="245059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407408" y="2377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24528" y="276148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407408" y="268833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Reimbursements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24528" y="307238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407408" y="29992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24528" y="338328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4407408" y="33101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23760" y="1691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23760" y="2057400"/>
            <a:ext cx="4389120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60920" y="2116836"/>
            <a:ext cx="365760" cy="36576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31" name="Image 0" descr="icons/chartbar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2199132"/>
            <a:ext cx="201168" cy="20116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863840" y="2057400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 rot="10800000">
            <a:off x="9345168" y="2560320"/>
            <a:ext cx="146304" cy="118872"/>
          </a:xfrm>
          <a:prstGeom prst="triangle">
            <a:avLst/>
          </a:prstGeom>
          <a:solidFill>
            <a:srgbClr val="5B7876"/>
          </a:solidFill>
          <a:ln/>
        </p:spPr>
      </p:sp>
      <p:sp>
        <p:nvSpPr>
          <p:cNvPr id="34" name="Shape 31"/>
          <p:cNvSpPr/>
          <p:nvPr/>
        </p:nvSpPr>
        <p:spPr>
          <a:xfrm>
            <a:off x="7223760" y="2679192"/>
            <a:ext cx="4389120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60920" y="2738628"/>
            <a:ext cx="365760" cy="36576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36" name="Image 1" descr="icons/chartbar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216" y="2820924"/>
            <a:ext cx="201168" cy="201168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7863840" y="2679192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 rot="10800000">
            <a:off x="9345168" y="3182112"/>
            <a:ext cx="146304" cy="118872"/>
          </a:xfrm>
          <a:prstGeom prst="triangle">
            <a:avLst/>
          </a:prstGeom>
          <a:solidFill>
            <a:srgbClr val="5B7876"/>
          </a:solidFill>
          <a:ln/>
        </p:spPr>
      </p:sp>
      <p:sp>
        <p:nvSpPr>
          <p:cNvPr id="39" name="Shape 35"/>
          <p:cNvSpPr/>
          <p:nvPr/>
        </p:nvSpPr>
        <p:spPr>
          <a:xfrm>
            <a:off x="7223760" y="3300984"/>
            <a:ext cx="4389120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360920" y="3360420"/>
            <a:ext cx="365760" cy="36576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41" name="Image 2" descr="icons/chartbar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3442716"/>
            <a:ext cx="201168" cy="20116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7863840" y="3300984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 rot="10800000">
            <a:off x="9345168" y="3803904"/>
            <a:ext cx="146304" cy="118872"/>
          </a:xfrm>
          <a:prstGeom prst="triangle">
            <a:avLst/>
          </a:prstGeom>
          <a:solidFill>
            <a:srgbClr val="5B7876"/>
          </a:solidFill>
          <a:ln/>
        </p:spPr>
      </p:sp>
      <p:sp>
        <p:nvSpPr>
          <p:cNvPr id="44" name="Shape 39"/>
          <p:cNvSpPr/>
          <p:nvPr/>
        </p:nvSpPr>
        <p:spPr>
          <a:xfrm>
            <a:off x="7223760" y="3922776"/>
            <a:ext cx="4389120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7360920" y="3982212"/>
            <a:ext cx="365760" cy="36576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46" name="Image 3" descr="icons/chartbar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4064508"/>
            <a:ext cx="201168" cy="201168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863840" y="3922776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48" name="Shape 42"/>
          <p:cNvSpPr/>
          <p:nvPr/>
        </p:nvSpPr>
        <p:spPr>
          <a:xfrm rot="10800000">
            <a:off x="9345168" y="4425696"/>
            <a:ext cx="146304" cy="118872"/>
          </a:xfrm>
          <a:prstGeom prst="triangle">
            <a:avLst/>
          </a:prstGeom>
          <a:solidFill>
            <a:srgbClr val="5B7876"/>
          </a:solidFill>
          <a:ln/>
        </p:spPr>
      </p:sp>
      <p:sp>
        <p:nvSpPr>
          <p:cNvPr id="49" name="Shape 43"/>
          <p:cNvSpPr/>
          <p:nvPr/>
        </p:nvSpPr>
        <p:spPr>
          <a:xfrm>
            <a:off x="7223760" y="4544568"/>
            <a:ext cx="4389120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7360920" y="4604004"/>
            <a:ext cx="365760" cy="36576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51" name="Image 4" descr="icons/chartbar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4686300"/>
            <a:ext cx="201168" cy="20116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7863840" y="4544568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Launch</a:t>
            </a:r>
            <a:endParaRPr lang="en-US" sz="1300" dirty="0"/>
          </a:p>
        </p:txBody>
      </p:sp>
      <p:sp>
        <p:nvSpPr>
          <p:cNvPr id="53" name="Shape 46"/>
          <p:cNvSpPr/>
          <p:nvPr/>
        </p:nvSpPr>
        <p:spPr>
          <a:xfrm rot="10800000">
            <a:off x="9345168" y="5047488"/>
            <a:ext cx="146304" cy="118872"/>
          </a:xfrm>
          <a:prstGeom prst="triangle">
            <a:avLst/>
          </a:prstGeom>
          <a:solidFill>
            <a:srgbClr val="5B7876"/>
          </a:solidFill>
          <a:ln/>
        </p:spPr>
      </p:sp>
      <p:sp>
        <p:nvSpPr>
          <p:cNvPr id="54" name="Shape 47"/>
          <p:cNvSpPr/>
          <p:nvPr/>
        </p:nvSpPr>
        <p:spPr>
          <a:xfrm>
            <a:off x="7223760" y="5166360"/>
            <a:ext cx="4389120" cy="484632"/>
          </a:xfrm>
          <a:prstGeom prst="roundRect">
            <a:avLst>
              <a:gd name="adj" fmla="val 13208"/>
            </a:avLst>
          </a:prstGeom>
          <a:solidFill>
            <a:srgbClr val="023436"/>
          </a:solidFill>
          <a:ln w="12700">
            <a:solidFill>
              <a:srgbClr val="023436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7360920" y="522579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6" name="Image 5" descr="icons/rocket_02343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216" y="5308092"/>
            <a:ext cx="201168" cy="201168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7863840" y="5166360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300" dirty="0"/>
          </a:p>
        </p:txBody>
      </p:sp>
      <p:sp>
        <p:nvSpPr>
          <p:cNvPr id="58" name="Shape 50"/>
          <p:cNvSpPr/>
          <p:nvPr/>
        </p:nvSpPr>
        <p:spPr>
          <a:xfrm>
            <a:off x="548640" y="4206240"/>
            <a:ext cx="6720840" cy="2286000"/>
          </a:xfrm>
          <a:prstGeom prst="roundRect">
            <a:avLst>
              <a:gd name="adj" fmla="val 4000"/>
            </a:avLst>
          </a:prstGeom>
          <a:solidFill>
            <a:srgbClr val="023436"/>
          </a:solidFill>
          <a:ln/>
        </p:spPr>
      </p:sp>
      <p:sp>
        <p:nvSpPr>
          <p:cNvPr id="59" name="Text 51"/>
          <p:cNvSpPr/>
          <p:nvPr/>
        </p:nvSpPr>
        <p:spPr>
          <a:xfrm>
            <a:off x="822960" y="4389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PHASED ROLLOUT</a:t>
            </a:r>
            <a:endParaRPr lang="en-US" sz="1100" dirty="0"/>
          </a:p>
        </p:txBody>
      </p:sp>
      <p:sp>
        <p:nvSpPr>
          <p:cNvPr id="60" name="Text 52"/>
          <p:cNvSpPr/>
          <p:nvPr/>
        </p:nvSpPr>
        <p:spPr>
          <a:xfrm>
            <a:off x="822960" y="47091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Core, high-frequency services launch first so employees see immediate value, while richer modules like performance and analytics roll out once the foundation is adopted and stable.</a:t>
            </a:r>
            <a:endParaRPr lang="en-US" sz="1300" dirty="0"/>
          </a:p>
        </p:txBody>
      </p:sp>
      <p:sp>
        <p:nvSpPr>
          <p:cNvPr id="61" name="Text 5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</a:t>
            </a:r>
            <a:endParaRPr lang="en-US" sz="900" dirty="0"/>
          </a:p>
        </p:txBody>
      </p:sp>
      <p:sp>
        <p:nvSpPr>
          <p:cNvPr id="62" name="Text 5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Employees  •  Simplifying HR  •  Driving Digital Transformation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COVERED IN THE PORTAL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053C40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35915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0" descr="icons/sitemap_0234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523" y="2445563"/>
            <a:ext cx="211226" cy="21122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2816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Attendance, Payroll, Notifications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017520" y="21945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053C40"/>
          </a:solidFill>
          <a:ln/>
        </p:spPr>
      </p:sp>
      <p:sp>
        <p:nvSpPr>
          <p:cNvPr id="13" name="Shape 10"/>
          <p:cNvSpPr/>
          <p:nvPr/>
        </p:nvSpPr>
        <p:spPr>
          <a:xfrm>
            <a:off x="3182112" y="235915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1" descr="icons/users_0234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523" y="2445563"/>
            <a:ext cx="211226" cy="21122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54680" y="2816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Profile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15468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Job, Bank, Documents, Emergency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303520" y="21945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053C40"/>
          </a:solidFill>
          <a:ln/>
        </p:spPr>
      </p:sp>
      <p:sp>
        <p:nvSpPr>
          <p:cNvPr id="18" name="Shape 14"/>
          <p:cNvSpPr/>
          <p:nvPr/>
        </p:nvSpPr>
        <p:spPr>
          <a:xfrm>
            <a:off x="5468112" y="235915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2" descr="icons/calendar_02343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523" y="2445563"/>
            <a:ext cx="211226" cy="21122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40680" y="2816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4068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Balance, Calendar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589520" y="21945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053C40"/>
          </a:solidFill>
          <a:ln/>
        </p:spPr>
      </p:sp>
      <p:sp>
        <p:nvSpPr>
          <p:cNvPr id="23" name="Shape 18"/>
          <p:cNvSpPr/>
          <p:nvPr/>
        </p:nvSpPr>
        <p:spPr>
          <a:xfrm>
            <a:off x="7754112" y="235915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3" descr="icons/clock_02343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523" y="2445563"/>
            <a:ext cx="211226" cy="21122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26680" y="2816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72668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WFH, Regularization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9875520" y="21945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053C40"/>
          </a:solidFill>
          <a:ln/>
        </p:spPr>
      </p:sp>
      <p:sp>
        <p:nvSpPr>
          <p:cNvPr id="28" name="Shape 22"/>
          <p:cNvSpPr/>
          <p:nvPr/>
        </p:nvSpPr>
        <p:spPr>
          <a:xfrm>
            <a:off x="10040112" y="235915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9" name="Image 4" descr="icons/invoice_02343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6523" y="2445563"/>
            <a:ext cx="211226" cy="21122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012680" y="2816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012680" y="3090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Payslips, Salary Structure, Form 16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731520" y="37490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053C40"/>
          </a:solidFill>
          <a:ln/>
        </p:spPr>
      </p:sp>
      <p:sp>
        <p:nvSpPr>
          <p:cNvPr id="33" name="Shape 26"/>
          <p:cNvSpPr/>
          <p:nvPr/>
        </p:nvSpPr>
        <p:spPr>
          <a:xfrm>
            <a:off x="896112" y="391363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4" name="Image 5" descr="icons/gift_02343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523" y="4000043"/>
            <a:ext cx="211226" cy="21122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68680" y="4370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868680" y="46451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PF, ESI, Insurance, Gratuity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3017520" y="37490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053C40"/>
          </a:solidFill>
          <a:ln/>
        </p:spPr>
      </p:sp>
      <p:sp>
        <p:nvSpPr>
          <p:cNvPr id="38" name="Shape 30"/>
          <p:cNvSpPr/>
          <p:nvPr/>
        </p:nvSpPr>
        <p:spPr>
          <a:xfrm>
            <a:off x="3182112" y="391363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9" name="Image 6" descr="icons/exchange_02343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8523" y="4000043"/>
            <a:ext cx="211226" cy="21122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154680" y="4370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Reimbursements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3154680" y="46451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Travel, Food, Medical, Internet, Mobile</a:t>
            </a:r>
            <a:endParaRPr lang="en-US" sz="850" dirty="0"/>
          </a:p>
        </p:txBody>
      </p:sp>
      <p:sp>
        <p:nvSpPr>
          <p:cNvPr id="42" name="Shape 33"/>
          <p:cNvSpPr/>
          <p:nvPr/>
        </p:nvSpPr>
        <p:spPr>
          <a:xfrm>
            <a:off x="5303520" y="37490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053C40"/>
          </a:solidFill>
          <a:ln/>
        </p:spPr>
      </p:sp>
      <p:sp>
        <p:nvSpPr>
          <p:cNvPr id="43" name="Shape 34"/>
          <p:cNvSpPr/>
          <p:nvPr/>
        </p:nvSpPr>
        <p:spPr>
          <a:xfrm>
            <a:off x="5468112" y="391363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4" name="Image 7" descr="icons/tasks_02343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4523" y="4000043"/>
            <a:ext cx="211226" cy="211226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440680" y="4370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5440680" y="46451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KRA, KPI, Reviews, Feedback</a:t>
            </a:r>
            <a:endParaRPr lang="en-US" sz="850" dirty="0"/>
          </a:p>
        </p:txBody>
      </p:sp>
      <p:sp>
        <p:nvSpPr>
          <p:cNvPr id="47" name="Shape 37"/>
          <p:cNvSpPr/>
          <p:nvPr/>
        </p:nvSpPr>
        <p:spPr>
          <a:xfrm>
            <a:off x="7589520" y="37490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053C40"/>
          </a:solidFill>
          <a:ln/>
        </p:spPr>
      </p:sp>
      <p:sp>
        <p:nvSpPr>
          <p:cNvPr id="48" name="Shape 38"/>
          <p:cNvSpPr/>
          <p:nvPr/>
        </p:nvSpPr>
        <p:spPr>
          <a:xfrm>
            <a:off x="7754112" y="391363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9" name="Image 8" descr="icons/chartpie_02343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0523" y="4000043"/>
            <a:ext cx="211226" cy="211226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7726680" y="4370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51" name="Text 40"/>
          <p:cNvSpPr/>
          <p:nvPr/>
        </p:nvSpPr>
        <p:spPr>
          <a:xfrm>
            <a:off x="7726680" y="46451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Analytics &amp; HR Reports</a:t>
            </a:r>
            <a:endParaRPr lang="en-US" sz="850" dirty="0"/>
          </a:p>
        </p:txBody>
      </p:sp>
      <p:sp>
        <p:nvSpPr>
          <p:cNvPr id="52" name="Shape 41"/>
          <p:cNvSpPr/>
          <p:nvPr/>
        </p:nvSpPr>
        <p:spPr>
          <a:xfrm>
            <a:off x="9875520" y="37490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053C40"/>
          </a:solidFill>
          <a:ln/>
        </p:spPr>
      </p:sp>
      <p:sp>
        <p:nvSpPr>
          <p:cNvPr id="53" name="Shape 42"/>
          <p:cNvSpPr/>
          <p:nvPr/>
        </p:nvSpPr>
        <p:spPr>
          <a:xfrm>
            <a:off x="10040112" y="391363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4" name="Image 9" descr="icons/bullhorn_023436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6523" y="4000043"/>
            <a:ext cx="211226" cy="211226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10012680" y="4370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200" dirty="0"/>
          </a:p>
        </p:txBody>
      </p:sp>
      <p:sp>
        <p:nvSpPr>
          <p:cNvPr id="56" name="Text 44"/>
          <p:cNvSpPr/>
          <p:nvPr/>
        </p:nvSpPr>
        <p:spPr>
          <a:xfrm>
            <a:off x="10012680" y="46451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News &amp; Notifications</a:t>
            </a:r>
            <a:endParaRPr lang="en-US" sz="850" dirty="0"/>
          </a:p>
        </p:txBody>
      </p:sp>
      <p:sp>
        <p:nvSpPr>
          <p:cNvPr id="57" name="Text 45"/>
          <p:cNvSpPr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58" name="Text 4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HR ESS PORTAL</a:t>
            </a:r>
            <a:endParaRPr lang="en-US" sz="900" dirty="0"/>
          </a:p>
        </p:txBody>
      </p:sp>
      <p:sp>
        <p:nvSpPr>
          <p:cNvPr id="59" name="Text 4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2026-07-25T22:45:27Z</dcterms:created>
  <dcterms:modified xsi:type="dcterms:W3CDTF">2026-07-25T22:45:27Z</dcterms:modified>
</cp:coreProperties>
</file>